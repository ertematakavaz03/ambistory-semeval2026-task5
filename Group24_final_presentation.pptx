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8"/>
  </p:normalViewPr>
  <p:slideViewPr>
    <p:cSldViewPr snapToGrid="0" snapToObjects="1">
      <p:cViewPr varScale="1">
        <p:scale>
          <a:sx n="114" d="100"/>
          <a:sy n="114" d="100"/>
        </p:scale>
        <p:origin x="66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2211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tackle SemEval-2026 Task 5: graded word-sense plausibility rating. Our final system is a three-component ensemble; on dev it reaches acc@std 0.733 / Spearman +0.588.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Instead of choosing one sense, systems rate a candidate sense 1–5; the gold is the mean of five annotators.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Two facts drive every design choice: the target is graded with real annotator disagreement, and the splits are homonym-disjoint so we must generalise semantically, not memorise lexically.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genuine methodological finding: the official scorer reads the raw value, so continuous calibrated predictions materially raise Spearman.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complementary signals: a training-free NLI prior, a supervised gloss-informed regressor, and our novel distribution head; blended on a homonym-disjoint hold-out.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Component A turns plausibility into entailment and needs no training; it is our generalisation backbone (Yin et al., EMNLP 2019).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standard but carefully-regularised supervised regressor with a gloss-informed input; hold-out early stopping prevents dev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our headline contribution: distribution matching plus an expected-value read-out that is continuous by construction, with a calibrated uncertainty we feed back into the ensemble.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Weights and calibration are fit on the homonym-disjoint hold-out, so reported dev numbers are an honest proxy for the hidden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Several-fold Spearman improvement over the best milestone lexical baseline; we clear the rubric's OK 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Rounded to 5 classes for the rubric-required confusion matrix and F1; errors are concentrated on the ambiguous middle ratings.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Predictions are well-calibrated after isotonic; hold-out Spearman is the early-stopping signal for B and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show what we tried: the continuous-prediction lever, calibration choice, MSE vs CORN vs distribution, and component drop-one.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distribution head's variance is a meaningful confidence signal, validating the uncertainty-gated ensemble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Ten references from allowed venues; we directly re-implement the gloss-informed and zero-shot-via-NLI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Equal split across members; happy to take questions on any component.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B3D91"/>
                </a:solidFill>
                <a:latin typeface="Calibri"/>
              </a:rPr>
              <a:t>Rating Plausibility of Word Senses in Ambiguous Sentences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0175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444444"/>
                </a:solidFill>
                <a:latin typeface="Calibri"/>
              </a:rPr>
              <a:t>through Narrative Understanding — SemEval-2026 Task 5 ·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975854"/>
            <a:ext cx="11247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b="1" dirty="0" err="1">
                <a:solidFill>
                  <a:srgbClr val="444444"/>
                </a:solidFill>
              </a:rPr>
              <a:t>Group</a:t>
            </a:r>
            <a:r>
              <a:rPr lang="tr-TR" b="1" dirty="0">
                <a:solidFill>
                  <a:srgbClr val="444444"/>
                </a:solidFill>
              </a:rPr>
              <a:t> 24 — Taylan </a:t>
            </a:r>
            <a:r>
              <a:rPr lang="tr-TR" b="1" dirty="0" err="1">
                <a:solidFill>
                  <a:srgbClr val="444444"/>
                </a:solidFill>
              </a:rPr>
              <a:t>İrak</a:t>
            </a:r>
            <a:r>
              <a:rPr lang="tr-TR" b="1" dirty="0">
                <a:solidFill>
                  <a:srgbClr val="444444"/>
                </a:solidFill>
              </a:rPr>
              <a:t> · Emre Berk Hamarat · Onur Deniz </a:t>
            </a:r>
            <a:r>
              <a:rPr lang="tr-TR" b="1" dirty="0" err="1">
                <a:solidFill>
                  <a:srgbClr val="444444"/>
                </a:solidFill>
              </a:rPr>
              <a:t>Öğüncü</a:t>
            </a:r>
            <a:r>
              <a:rPr lang="tr-TR" b="1" dirty="0">
                <a:solidFill>
                  <a:srgbClr val="444444"/>
                </a:solidFill>
              </a:rPr>
              <a:t> · Edes Rıza Çakmak · Ertem Ata </a:t>
            </a:r>
            <a:r>
              <a:rPr lang="tr-TR" b="1" dirty="0" err="1">
                <a:solidFill>
                  <a:srgbClr val="444444"/>
                </a:solidFill>
              </a:rPr>
              <a:t>Kavaz</a:t>
            </a:r>
            <a:endParaRPr sz="1800" b="1" i="0" dirty="0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4663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444444"/>
                </a:solidFill>
                <a:latin typeface="Calibri"/>
              </a:rPr>
              <a:t>3-component ensemble · dev acc@std 0.733 / ρ +0.588 (Below OK)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  <a:latin typeface="Calibri"/>
              </a:rPr>
              <a:t>18 May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1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GroupXX — SemEval-2026 Task 5 (Final)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01168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3D91"/>
                </a:solidFill>
                <a:latin typeface="Calibri"/>
              </a:rPr>
              <a:t>The task: rate plausibility, don't pick a sense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524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B3D91"/>
                </a:solidFill>
                <a:latin typeface="Calibri"/>
              </a:rPr>
              <a:t>f(story, homonym, candidate gloss) → rating in [1,5]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• Input: 5-sentence story (precontext · target sentence · ending) + homonym + one gloss.</a:t>
            </a:r>
          </a:p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• Output: human-average plausibility; five annotators rate each item.</a:t>
            </a:r>
          </a:p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• Multiple senses can be plausible at once — unlike single-label WSD.</a:t>
            </a:r>
          </a:p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• Official scorer: Spearman ρ vs. human mean + accuracy@std (within 1σ or |err|&lt;1).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3D91"/>
                </a:solidFill>
                <a:latin typeface="Calibri"/>
              </a:rPr>
              <a:t>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68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44444"/>
                </a:solidFill>
                <a:latin typeface="Calibri"/>
              </a:rPr>
              <a:t>homonym: track   gloss: a pair of parallel rails …</a:t>
            </a:r>
          </a:p>
          <a:p>
            <a:pPr algn="l"/>
            <a:r>
              <a:rPr sz="1400" b="0" i="1">
                <a:solidFill>
                  <a:srgbClr val="444444"/>
                </a:solidFill>
                <a:latin typeface="Calibri"/>
              </a:rPr>
              <a:t>story: detectives at an abandoned train station … 'They followed the track.' …</a:t>
            </a:r>
          </a:p>
          <a:p>
            <a:pPr algn="l"/>
            <a:r>
              <a:rPr sz="1400" b="0" i="1">
                <a:solidFill>
                  <a:srgbClr val="444444"/>
                </a:solidFill>
                <a:latin typeface="Calibri"/>
              </a:rPr>
              <a:t>annotator votes 4,5,3,1,5 → average 3.6, σ 1.67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2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GroupXX — SemEval-2026 Task 5 (Final)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01168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3D91"/>
                </a:solidFill>
                <a:latin typeface="Calibri"/>
              </a:rPr>
              <a:t>Why it is hard — two data facts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524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51560"/>
            <a:ext cx="5669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1) Graded, multi-annotator target</a:t>
            </a:r>
          </a:p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   • disagreement is signal, not noise</a:t>
            </a:r>
          </a:p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   • 35% of train has σ ≥ 1.2 → metric ceiling</a:t>
            </a:r>
          </a:p>
          <a:p>
            <a:pPr algn="l"/>
            <a:endParaRPr sz="1600" b="0" i="0">
              <a:solidFill>
                <a:srgbClr val="444444"/>
              </a:solidFill>
              <a:latin typeface="Calibri"/>
            </a:endParaRPr>
          </a:p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2) Near homonym-disjoint splits</a:t>
            </a:r>
          </a:p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   • dev ∩ train homonyms = 0</a:t>
            </a:r>
          </a:p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   • test ∩ train = 1</a:t>
            </a:r>
          </a:p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   • lexical memorisation cannot transfer</a:t>
            </a:r>
          </a:p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   • milestone lexical best ≈ 0.55 / 0.19</a:t>
            </a:r>
          </a:p>
        </p:txBody>
      </p:sp>
      <p:pic>
        <p:nvPicPr>
          <p:cNvPr id="5" name="Picture 4" descr="fig1_label_e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97280"/>
            <a:ext cx="5486400" cy="24761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07040" y="6400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3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GroupXX — SemEval-2026 Task 5 (Final)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01168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3D91"/>
                </a:solidFill>
                <a:latin typeface="Calibri"/>
              </a:rPr>
              <a:t>Metrics, rubric, and a key scorer insight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524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• OK = acc@std ≥ 0.70 &amp; ρ ≥ 0.60   |   Good = ≥ 0.80 &amp; ≥ 0.70</a:t>
            </a:r>
          </a:p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• scoring.py consumes the RAW prediction value (float allowed).</a:t>
            </a:r>
          </a:p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• format_check only int-casts for a non-fatal warning.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B3D91"/>
                </a:solidFill>
                <a:latin typeface="Calibri"/>
              </a:rPr>
              <a:t>⇒ Submitting calibrated CONTINUOUS ratings (not rounded) lifts Spearman +0.558 → +0.588 at zero modelling cost.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44"/>
                </a:solidFill>
                <a:latin typeface="Calibri"/>
              </a:rPr>
              <a:t>We submit continuous; an integer file is kept for the strict variant and the ablation. Every tuning decision uses a homonym-disjoint train hold-out — dev is report-only.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4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GroupXX — SemEval-2026 Task 5 (Final)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01168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3D91"/>
                </a:solidFill>
                <a:latin typeface="Calibri"/>
              </a:rPr>
              <a:t>System: a 3-component calibrated ensemble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524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188720"/>
            <a:ext cx="11247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A · Zero-shot NLI (no training): story ⊨ "&lt;homonym&gt; means &lt;gloss&gt;"  → calibrate</a:t>
            </a:r>
          </a:p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B · Gloss-informed encoder regressor: DeBERTa-v3-large, MSE on human mean</a:t>
            </a:r>
          </a:p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C · NOVEL Likert-distribution head: predict 5-vote distribution, read E[k] + variance</a:t>
            </a:r>
          </a:p>
          <a:p>
            <a:pPr algn="l"/>
            <a:endParaRPr sz="1700" b="0" i="0">
              <a:solidFill>
                <a:srgbClr val="444444"/>
              </a:solidFill>
              <a:latin typeface="Calibri"/>
            </a:endParaRPr>
          </a:p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Ensemble: convex weights tuned on the homonym-disjoint hold-out + isotonic</a:t>
            </a:r>
          </a:p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   tuned weights  A 0.42 · B 0.04 · C 0.54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44444"/>
                </a:solidFill>
                <a:latin typeface="Calibri"/>
              </a:rPr>
              <a:t>Open-source HuggingFace models only — no API, fully reproducible.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5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GroupXX — SemEval-2026 Task 5 (Final)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01168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3D91"/>
                </a:solidFill>
                <a:latin typeface="Calibri"/>
              </a:rPr>
              <a:t>Component A — zero-shot NLI (training-free)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524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0"/>
            <a:ext cx="11247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• premise = full story;  hypothesis = 'In this story, "&lt;homonym&gt;" means &lt;gloss&gt;.'</a:t>
            </a:r>
          </a:p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• signal s = P(entail) − P(contradiction), 2 templates averaged</a:t>
            </a:r>
          </a:p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• calibrate s → [1,5] with isotonic regression on the hold-out</a:t>
            </a:r>
          </a:p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• checkpoint: DeBERTa-v3-large-mnli (GPU) / distilbert-mnli (CPU)</a:t>
            </a:r>
          </a:p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• generalises across the strict split — NLI knowledge is homonym-agnostic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3D91"/>
                </a:solidFill>
                <a:latin typeface="Calibri"/>
              </a:rPr>
              <a:t>dev: acc@std 0.624 · ρ +0.381   (isotonic vs linear calibration: +0.381 vs +0.378)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6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GroupXX — SemEval-2026 Task 5 (Final)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01168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3D91"/>
                </a:solidFill>
                <a:latin typeface="Calibri"/>
              </a:rPr>
              <a:t>Component B — gloss-informed regressor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524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0"/>
            <a:ext cx="11247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• input: [sentence] || homonym: gloss [example] … [story] precontext ending</a:t>
            </a:r>
          </a:p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• gloss next to the lexical anchor (Blevins &amp; Zettlemoyer, ACL 2020)</a:t>
            </a:r>
          </a:p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• linear head on [CLS], MSE vs human mean, z-scored target</a:t>
            </a:r>
          </a:p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• lr 1e-5, 4 epochs, warmup, grad-clip, fp16; early-stop on hold-out ρ</a:t>
            </a:r>
          </a:p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• 3 seeds {13,42,123} averaged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3D91"/>
                </a:solidFill>
                <a:latin typeface="Calibri"/>
              </a:rPr>
              <a:t>dev: acc@std 0.767 · ρ +0.610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7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GroupXX — SemEval-2026 Task 5 (Final)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01168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3D91"/>
                </a:solidFill>
                <a:latin typeface="Calibri"/>
              </a:rPr>
              <a:t>Component C — NOVEL Likert-distribution head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524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51560"/>
            <a:ext cx="11247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Predict the full 5-vote distribution p = softmax(Wh):</a:t>
            </a:r>
          </a:p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   loss = KL(empirical votes ‖ p) + 0.3·MSE(Σ k·p_k, mean)</a:t>
            </a:r>
          </a:p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   prediction = E[k] = Σ k·p_k   → intrinsically continuous in [1,5]</a:t>
            </a:r>
          </a:p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   uncertainty = Σ p_k (k−E)²    → free per-sample confidence</a:t>
            </a:r>
          </a:p>
          <a:p>
            <a:pPr algn="l"/>
            <a:endParaRPr sz="1600" b="0" i="0">
              <a:solidFill>
                <a:srgbClr val="444444"/>
              </a:solidFill>
              <a:latin typeface="Calibri"/>
            </a:endParaRPr>
          </a:p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Why novel for this task: it models the annotator disagreement the data</a:t>
            </a:r>
          </a:p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explicitly provides; a mean-only objective discards it. Uncertainty is</a:t>
            </a:r>
          </a:p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reused to gate the ensemble (second novel use).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3D91"/>
                </a:solidFill>
                <a:latin typeface="Calibri"/>
              </a:rPr>
              <a:t>dev: acc@std 0.769 · ρ +0.578   |   head objective: dist +0.578 vs CORN +0.513 vs MSE +0.610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8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GroupXX — SemEval-2026 Task 5 (Final)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01168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3D91"/>
                </a:solidFill>
                <a:latin typeface="Calibri"/>
              </a:rPr>
              <a:t>Ensemble &amp; honest evaluation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524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188720"/>
            <a:ext cx="11247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• convex weight grid search maximising hold-out Spearman</a:t>
            </a:r>
          </a:p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• one final isotonic calibration on the hold-out, clip [1,5]</a:t>
            </a:r>
          </a:p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• uncertainty-gated variant (ablation): shrink C where it is unsure</a:t>
            </a:r>
          </a:p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• dev is NEVER tuned on — it mirrors the hidden test (homonym-disjoint)</a:t>
            </a:r>
          </a:p>
          <a:p>
            <a:pPr algn="l"/>
            <a:r>
              <a:rPr sz="1700" b="0" i="0">
                <a:solidFill>
                  <a:srgbClr val="444444"/>
                </a:solidFill>
                <a:latin typeface="Calibri"/>
              </a:rPr>
              <a:t>• all numbers reported by the official scoring.py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44444"/>
                </a:solidFill>
                <a:latin typeface="Calibri"/>
              </a:rPr>
              <a:t>runtime that produced these numbers: GPU / deberta-v3-large (canonical)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9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GroupXX — SemEval-2026 Task 5 (Final)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01168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3D91"/>
                </a:solidFill>
                <a:latin typeface="Calibri"/>
              </a:rPr>
              <a:t>Results — baselines → components → ensemble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524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fig9_sota_baselin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097280"/>
            <a:ext cx="9601200" cy="54661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B3D91"/>
                </a:solidFill>
                <a:latin typeface="Calibri"/>
              </a:rPr>
              <a:t>Ensemble dev: acc@std 0.733 · ρ +0.588 → Below 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10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GroupXX — SemEval-2026 Task 5 (Final)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01168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3D91"/>
                </a:solidFill>
                <a:latin typeface="Calibri"/>
              </a:rPr>
              <a:t>Classification view: confusion &amp; per-class F1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524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fig2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7280"/>
            <a:ext cx="5394960" cy="5012640"/>
          </a:xfrm>
          <a:prstGeom prst="rect">
            <a:avLst/>
          </a:prstGeom>
        </p:spPr>
      </p:pic>
      <p:pic>
        <p:nvPicPr>
          <p:cNvPr id="5" name="Picture 4" descr="fig3_per_class_f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280160"/>
            <a:ext cx="5486400" cy="40137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444444"/>
                </a:solidFill>
                <a:latin typeface="Calibri"/>
              </a:rPr>
              <a:t>macro-F1 0.297 · macro-P 0.400 · macro-R 0.310 (rounded 5-way view)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11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GroupXX — SemEval-2026 Task 5 (Final)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01168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3D91"/>
                </a:solidFill>
                <a:latin typeface="Calibri"/>
              </a:rPr>
              <a:t>Calibration &amp; training curves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524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fig6_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7280"/>
            <a:ext cx="5394960" cy="5153551"/>
          </a:xfrm>
          <a:prstGeom prst="rect">
            <a:avLst/>
          </a:prstGeom>
        </p:spPr>
      </p:pic>
      <p:pic>
        <p:nvPicPr>
          <p:cNvPr id="5" name="Picture 4" descr="fig7_training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188720"/>
            <a:ext cx="5486400" cy="3984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07040" y="6400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12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GroupXX — SemEval-2026 Task 5 (Final)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01168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3D91"/>
                </a:solidFill>
                <a:latin typeface="Calibri"/>
              </a:rPr>
              <a:t>The journey — ablations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524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fig8_abl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10881360" cy="35778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444444"/>
                </a:solidFill>
                <a:latin typeface="Calibri"/>
              </a:rPr>
              <a:t>continuous-vs-int · NLI calibration · head objective · ensemble drop-one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13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GroupXX — SemEval-2026 Task 5 (Final)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01168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3D91"/>
                </a:solidFill>
                <a:latin typeface="Calibri"/>
              </a:rPr>
              <a:t>Novelty payoff — uncertainty tracks error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524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fig10_uncertainty_vs_err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188720"/>
            <a:ext cx="6675120" cy="49891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444444"/>
                </a:solidFill>
                <a:latin typeface="Calibri"/>
              </a:rPr>
              <a:t>Component C's predicted variance correlates with absolute error — used to gate the ensemble.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14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GroupXX — SemEval-2026 Task 5 (Final)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01168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3D91"/>
                </a:solidFill>
                <a:latin typeface="Calibri"/>
              </a:rPr>
              <a:t>Related work (cited)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524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• Pilehvar &amp; Camacho-Collados, WiC — NAACL 2019</a:t>
            </a:r>
          </a:p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• Blevins &amp; Zettlemoyer, gloss-informed biencoders — ACL 2020  (we adapt)</a:t>
            </a:r>
          </a:p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• Yin, Hay &amp; Roth, zero-shot via NLI — EMNLP 2019  (we apply)</a:t>
            </a:r>
          </a:p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• Williams et al., MNLI — NAACL 2018 ; Bowman et al., SNLI — EMNLP 2015</a:t>
            </a:r>
          </a:p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• Devlin et al., BERT — NAACL 2019 ; Reimers &amp; Gurevych, SBERT — EMNLP 2019</a:t>
            </a:r>
          </a:p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• Loureiro &amp; Jorge, LMMS — ACL 2019 ; Brown et al. — NeurIPS 2020</a:t>
            </a:r>
          </a:p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• Cao, Mirjalili &amp; Raschka, rank-consistent ordinal — Pattern Recog. Letters 2020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15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GroupXX — SemEval-2026 Task 5 (Final)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01168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3D91"/>
                </a:solidFill>
                <a:latin typeface="Calibri"/>
              </a:rPr>
              <a:t>Individual contributions &amp; takeaways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524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0"/>
            <a:ext cx="1044869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b="1" dirty="0"/>
              <a:t>Taylan </a:t>
            </a:r>
            <a:r>
              <a:rPr lang="tr-TR" b="1" dirty="0" err="1"/>
              <a:t>İrak</a:t>
            </a:r>
            <a:r>
              <a:rPr lang="tr-TR" dirty="0"/>
              <a:t> Component A (NLI </a:t>
            </a:r>
            <a:r>
              <a:rPr lang="tr-TR" dirty="0" err="1"/>
              <a:t>scorer</a:t>
            </a:r>
            <a:r>
              <a:rPr lang="tr-TR" dirty="0"/>
              <a:t>, </a:t>
            </a:r>
            <a:r>
              <a:rPr lang="tr-TR" dirty="0" err="1"/>
              <a:t>hypothesis</a:t>
            </a:r>
            <a:r>
              <a:rPr lang="tr-TR" dirty="0"/>
              <a:t> </a:t>
            </a:r>
            <a:r>
              <a:rPr lang="tr-TR" dirty="0" err="1"/>
              <a:t>templates</a:t>
            </a:r>
            <a:r>
              <a:rPr lang="tr-TR" dirty="0"/>
              <a:t>, </a:t>
            </a:r>
            <a:r>
              <a:rPr lang="tr-TR" dirty="0" err="1"/>
              <a:t>calibration</a:t>
            </a:r>
            <a:r>
              <a:rPr lang="tr-TR" dirty="0"/>
              <a:t>); Component B (</a:t>
            </a:r>
            <a:r>
              <a:rPr lang="tr-TR" dirty="0" err="1"/>
              <a:t>gloss-informed</a:t>
            </a:r>
            <a:r>
              <a:rPr lang="tr-TR" dirty="0"/>
              <a:t> </a:t>
            </a:r>
            <a:r>
              <a:rPr lang="tr-TR" dirty="0" err="1"/>
              <a:t>regressor</a:t>
            </a:r>
            <a:r>
              <a:rPr lang="tr-TR" dirty="0"/>
              <a:t>, </a:t>
            </a:r>
            <a:r>
              <a:rPr lang="tr-TR" dirty="0" err="1"/>
              <a:t>mean-pooling</a:t>
            </a:r>
            <a:r>
              <a:rPr lang="tr-TR" dirty="0"/>
              <a:t>, LLRD, </a:t>
            </a:r>
            <a:r>
              <a:rPr lang="tr-TR" dirty="0" err="1"/>
              <a:t>rank-aligned</a:t>
            </a:r>
            <a:r>
              <a:rPr lang="tr-TR" dirty="0"/>
              <a:t> </a:t>
            </a:r>
            <a:r>
              <a:rPr lang="tr-TR" dirty="0" err="1"/>
              <a:t>loss</a:t>
            </a:r>
            <a:r>
              <a:rPr lang="tr-TR" dirty="0"/>
              <a:t>, </a:t>
            </a:r>
            <a:r>
              <a:rPr lang="tr-TR" dirty="0" err="1"/>
              <a:t>holdout</a:t>
            </a:r>
            <a:r>
              <a:rPr lang="tr-TR" dirty="0"/>
              <a:t> </a:t>
            </a:r>
            <a:r>
              <a:rPr lang="tr-TR" dirty="0" err="1"/>
              <a:t>early</a:t>
            </a:r>
            <a:r>
              <a:rPr lang="tr-TR" dirty="0"/>
              <a:t> </a:t>
            </a:r>
            <a:r>
              <a:rPr lang="tr-TR" dirty="0" err="1"/>
              <a:t>stopping</a:t>
            </a:r>
            <a:r>
              <a:rPr lang="tr-TR" dirty="0"/>
              <a:t>, </a:t>
            </a:r>
            <a:r>
              <a:rPr lang="tr-TR" dirty="0" err="1"/>
              <a:t>seed</a:t>
            </a:r>
            <a:r>
              <a:rPr lang="tr-TR" dirty="0"/>
              <a:t> </a:t>
            </a:r>
            <a:r>
              <a:rPr lang="tr-TR" dirty="0" err="1"/>
              <a:t>averaging</a:t>
            </a:r>
            <a:r>
              <a:rPr lang="tr-TR" dirty="0"/>
              <a:t>); data </a:t>
            </a:r>
            <a:r>
              <a:rPr lang="tr-TR" dirty="0" err="1"/>
              <a:t>pipeline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homonym-disjoint</a:t>
            </a:r>
            <a:r>
              <a:rPr lang="tr-TR" dirty="0"/>
              <a:t> </a:t>
            </a:r>
            <a:r>
              <a:rPr lang="tr-TR" dirty="0" err="1"/>
              <a:t>split</a:t>
            </a:r>
            <a:r>
              <a:rPr lang="tr-TR" dirty="0"/>
              <a:t>; </a:t>
            </a:r>
            <a:r>
              <a:rPr lang="tr-TR" dirty="0" err="1"/>
              <a:t>related-work</a:t>
            </a:r>
            <a:r>
              <a:rPr lang="tr-TR" dirty="0"/>
              <a:t> </a:t>
            </a:r>
            <a:r>
              <a:rPr lang="tr-TR" dirty="0" err="1"/>
              <a:t>survey</a:t>
            </a:r>
            <a:r>
              <a:rPr lang="tr-TR" dirty="0"/>
              <a:t>; </a:t>
            </a:r>
            <a:r>
              <a:rPr lang="tr-TR" dirty="0" err="1"/>
              <a:t>Methodology</a:t>
            </a:r>
            <a:r>
              <a:rPr lang="tr-TR" dirty="0"/>
              <a:t>, </a:t>
            </a:r>
            <a:r>
              <a:rPr lang="tr-TR" dirty="0" err="1"/>
              <a:t>Results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ablation</a:t>
            </a:r>
            <a:r>
              <a:rPr lang="tr-TR" dirty="0"/>
              <a:t> </a:t>
            </a:r>
            <a:r>
              <a:rPr lang="tr-TR" dirty="0" err="1"/>
              <a:t>analysis</a:t>
            </a:r>
            <a:r>
              <a:rPr lang="tr-TR" dirty="0"/>
              <a:t>.</a:t>
            </a:r>
          </a:p>
          <a:p>
            <a:r>
              <a:rPr lang="tr-TR" b="1" dirty="0"/>
              <a:t>Emre Berk Hamarat</a:t>
            </a:r>
            <a:r>
              <a:rPr lang="tr-TR" dirty="0"/>
              <a:t> Component B (</a:t>
            </a:r>
            <a:r>
              <a:rPr lang="tr-TR" dirty="0" err="1"/>
              <a:t>gloss-informed</a:t>
            </a:r>
            <a:r>
              <a:rPr lang="tr-TR" dirty="0"/>
              <a:t> </a:t>
            </a:r>
            <a:r>
              <a:rPr lang="tr-TR" dirty="0" err="1"/>
              <a:t>regressor</a:t>
            </a:r>
            <a:r>
              <a:rPr lang="tr-TR" dirty="0"/>
              <a:t>): </a:t>
            </a:r>
            <a:r>
              <a:rPr lang="tr-TR" dirty="0" err="1"/>
              <a:t>encoder</a:t>
            </a:r>
            <a:r>
              <a:rPr lang="tr-TR" dirty="0"/>
              <a:t> </a:t>
            </a:r>
            <a:r>
              <a:rPr lang="tr-TR" dirty="0" err="1"/>
              <a:t>fine-tuning</a:t>
            </a:r>
            <a:r>
              <a:rPr lang="tr-TR" dirty="0"/>
              <a:t>, </a:t>
            </a:r>
            <a:r>
              <a:rPr lang="tr-TR" dirty="0" err="1"/>
              <a:t>mean-pooling</a:t>
            </a:r>
            <a:r>
              <a:rPr lang="tr-TR" dirty="0"/>
              <a:t>, </a:t>
            </a:r>
            <a:r>
              <a:rPr lang="tr-TR" dirty="0" err="1"/>
              <a:t>layer-wise</a:t>
            </a:r>
            <a:r>
              <a:rPr lang="tr-TR" dirty="0"/>
              <a:t> </a:t>
            </a:r>
            <a:r>
              <a:rPr lang="tr-TR" dirty="0" err="1"/>
              <a:t>learning</a:t>
            </a:r>
            <a:r>
              <a:rPr lang="tr-TR" dirty="0"/>
              <a:t>-rate </a:t>
            </a:r>
            <a:r>
              <a:rPr lang="tr-TR" dirty="0" err="1"/>
              <a:t>decay</a:t>
            </a:r>
            <a:r>
              <a:rPr lang="tr-TR" dirty="0"/>
              <a:t> (LLRD), </a:t>
            </a:r>
            <a:r>
              <a:rPr lang="tr-TR" dirty="0" err="1"/>
              <a:t>rank-aligned</a:t>
            </a:r>
            <a:r>
              <a:rPr lang="tr-TR" dirty="0"/>
              <a:t> </a:t>
            </a:r>
            <a:r>
              <a:rPr lang="tr-TR" dirty="0" err="1"/>
              <a:t>loss</a:t>
            </a:r>
            <a:r>
              <a:rPr lang="tr-TR" dirty="0"/>
              <a:t>,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homonym-disjoint</a:t>
            </a:r>
            <a:r>
              <a:rPr lang="tr-TR" dirty="0"/>
              <a:t> </a:t>
            </a:r>
            <a:r>
              <a:rPr lang="tr-TR" dirty="0" err="1"/>
              <a:t>training</a:t>
            </a:r>
            <a:r>
              <a:rPr lang="tr-TR" dirty="0"/>
              <a:t> setup.</a:t>
            </a:r>
          </a:p>
          <a:p>
            <a:r>
              <a:rPr lang="tr-TR" b="1" dirty="0"/>
              <a:t>Ertem Ata </a:t>
            </a:r>
            <a:r>
              <a:rPr lang="tr-TR" b="1" dirty="0" err="1"/>
              <a:t>Kavaz</a:t>
            </a:r>
            <a:r>
              <a:rPr lang="tr-TR" dirty="0"/>
              <a:t> Component C (</a:t>
            </a:r>
            <a:r>
              <a:rPr lang="tr-TR" dirty="0" err="1"/>
              <a:t>novel</a:t>
            </a:r>
            <a:r>
              <a:rPr lang="tr-TR" dirty="0"/>
              <a:t> </a:t>
            </a:r>
            <a:r>
              <a:rPr lang="tr-TR" dirty="0" err="1"/>
              <a:t>Likert-distribution</a:t>
            </a:r>
            <a:r>
              <a:rPr lang="tr-TR" dirty="0"/>
              <a:t> </a:t>
            </a:r>
            <a:r>
              <a:rPr lang="tr-TR" dirty="0" err="1"/>
              <a:t>head</a:t>
            </a:r>
            <a:r>
              <a:rPr lang="tr-TR" dirty="0"/>
              <a:t>); </a:t>
            </a:r>
            <a:r>
              <a:rPr lang="tr-TR" dirty="0" err="1"/>
              <a:t>ensemble</a:t>
            </a:r>
            <a:r>
              <a:rPr lang="tr-TR" dirty="0"/>
              <a:t> </a:t>
            </a:r>
            <a:r>
              <a:rPr lang="tr-TR" dirty="0" err="1"/>
              <a:t>calibration</a:t>
            </a:r>
            <a:r>
              <a:rPr lang="tr-TR" dirty="0"/>
              <a:t>; </a:t>
            </a:r>
            <a:r>
              <a:rPr lang="tr-TR" dirty="0" err="1"/>
              <a:t>uncertainty-aware</a:t>
            </a:r>
            <a:r>
              <a:rPr lang="tr-TR" dirty="0"/>
              <a:t> </a:t>
            </a:r>
            <a:r>
              <a:rPr lang="tr-TR" dirty="0" err="1"/>
              <a:t>prediction</a:t>
            </a:r>
            <a:r>
              <a:rPr lang="tr-TR" dirty="0"/>
              <a:t>; </a:t>
            </a:r>
            <a:r>
              <a:rPr lang="tr-TR" dirty="0" err="1"/>
              <a:t>reproducibility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figure</a:t>
            </a:r>
            <a:r>
              <a:rPr lang="tr-TR" dirty="0"/>
              <a:t> </a:t>
            </a:r>
            <a:r>
              <a:rPr lang="tr-TR" dirty="0" err="1"/>
              <a:t>pipeline</a:t>
            </a:r>
            <a:r>
              <a:rPr lang="tr-TR" dirty="0"/>
              <a:t>.</a:t>
            </a:r>
          </a:p>
          <a:p>
            <a:r>
              <a:rPr lang="tr-TR" b="1" dirty="0"/>
              <a:t>Onur Deniz </a:t>
            </a:r>
            <a:r>
              <a:rPr lang="tr-TR" b="1" dirty="0" err="1"/>
              <a:t>Öğüncü</a:t>
            </a:r>
            <a:r>
              <a:rPr lang="tr-TR" dirty="0"/>
              <a:t> </a:t>
            </a:r>
            <a:r>
              <a:rPr lang="tr-TR" dirty="0" err="1"/>
              <a:t>Prompt</a:t>
            </a:r>
            <a:r>
              <a:rPr lang="tr-TR" dirty="0"/>
              <a:t> </a:t>
            </a:r>
            <a:r>
              <a:rPr lang="tr-TR" dirty="0" err="1"/>
              <a:t>engineering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experimentation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zero-shot</a:t>
            </a:r>
            <a:r>
              <a:rPr lang="tr-TR" dirty="0"/>
              <a:t>/</a:t>
            </a:r>
            <a:r>
              <a:rPr lang="tr-TR" dirty="0" err="1"/>
              <a:t>few-shot</a:t>
            </a:r>
            <a:r>
              <a:rPr lang="tr-TR" dirty="0"/>
              <a:t> </a:t>
            </a:r>
            <a:r>
              <a:rPr lang="tr-TR" dirty="0" err="1"/>
              <a:t>inference</a:t>
            </a:r>
            <a:r>
              <a:rPr lang="tr-TR" dirty="0"/>
              <a:t>; </a:t>
            </a:r>
            <a:r>
              <a:rPr lang="tr-TR" dirty="0" err="1"/>
              <a:t>retrieval-based</a:t>
            </a:r>
            <a:r>
              <a:rPr lang="tr-TR" dirty="0"/>
              <a:t> </a:t>
            </a:r>
            <a:r>
              <a:rPr lang="tr-TR" dirty="0" err="1"/>
              <a:t>example</a:t>
            </a:r>
            <a:r>
              <a:rPr lang="tr-TR" dirty="0"/>
              <a:t> </a:t>
            </a:r>
            <a:r>
              <a:rPr lang="tr-TR" dirty="0" err="1"/>
              <a:t>selection</a:t>
            </a:r>
            <a:r>
              <a:rPr lang="tr-TR" dirty="0"/>
              <a:t>; </a:t>
            </a:r>
            <a:r>
              <a:rPr lang="tr-TR" dirty="0" err="1"/>
              <a:t>hypothesis-template</a:t>
            </a:r>
            <a:r>
              <a:rPr lang="tr-TR" dirty="0"/>
              <a:t> </a:t>
            </a:r>
            <a:r>
              <a:rPr lang="tr-TR" dirty="0" err="1"/>
              <a:t>optimization</a:t>
            </a:r>
            <a:r>
              <a:rPr lang="tr-TR" dirty="0"/>
              <a:t>.</a:t>
            </a:r>
          </a:p>
          <a:p>
            <a:r>
              <a:rPr lang="tr-TR" b="1" dirty="0"/>
              <a:t>Edes Rıza Çakmak</a:t>
            </a:r>
            <a:r>
              <a:rPr lang="tr-TR" dirty="0"/>
              <a:t> Evaluation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experimental</a:t>
            </a:r>
            <a:r>
              <a:rPr lang="tr-TR" dirty="0"/>
              <a:t> </a:t>
            </a:r>
            <a:r>
              <a:rPr lang="tr-TR" dirty="0" err="1"/>
              <a:t>analysis</a:t>
            </a:r>
            <a:r>
              <a:rPr lang="tr-TR" dirty="0"/>
              <a:t> </a:t>
            </a:r>
            <a:r>
              <a:rPr lang="tr-TR" dirty="0" err="1"/>
              <a:t>framework</a:t>
            </a:r>
            <a:r>
              <a:rPr lang="tr-TR" dirty="0"/>
              <a:t>: </a:t>
            </a:r>
            <a:r>
              <a:rPr lang="tr-TR" dirty="0" err="1"/>
              <a:t>confusion</a:t>
            </a:r>
            <a:r>
              <a:rPr lang="tr-TR" dirty="0"/>
              <a:t> </a:t>
            </a:r>
            <a:r>
              <a:rPr lang="tr-TR" dirty="0" err="1"/>
              <a:t>matrices</a:t>
            </a:r>
            <a:r>
              <a:rPr lang="tr-TR" dirty="0"/>
              <a:t>, </a:t>
            </a:r>
            <a:r>
              <a:rPr lang="tr-TR" dirty="0" err="1"/>
              <a:t>precision</a:t>
            </a:r>
            <a:r>
              <a:rPr lang="tr-TR" dirty="0"/>
              <a:t>–</a:t>
            </a:r>
            <a:r>
              <a:rPr lang="tr-TR" dirty="0" err="1"/>
              <a:t>recall</a:t>
            </a:r>
            <a:r>
              <a:rPr lang="tr-TR" dirty="0"/>
              <a:t>/F1 </a:t>
            </a:r>
            <a:r>
              <a:rPr lang="tr-TR" dirty="0" err="1"/>
              <a:t>metrics</a:t>
            </a:r>
            <a:r>
              <a:rPr lang="tr-TR" dirty="0"/>
              <a:t>, </a:t>
            </a:r>
            <a:r>
              <a:rPr lang="tr-TR" dirty="0" err="1"/>
              <a:t>ablation</a:t>
            </a:r>
            <a:r>
              <a:rPr lang="tr-TR" dirty="0"/>
              <a:t> </a:t>
            </a:r>
            <a:r>
              <a:rPr lang="tr-TR" dirty="0" err="1"/>
              <a:t>studies</a:t>
            </a:r>
            <a:r>
              <a:rPr lang="tr-TR" dirty="0"/>
              <a:t>, </a:t>
            </a:r>
            <a:r>
              <a:rPr lang="tr-TR" dirty="0" err="1"/>
              <a:t>uncertainty</a:t>
            </a:r>
            <a:r>
              <a:rPr lang="tr-TR" dirty="0"/>
              <a:t>/</a:t>
            </a:r>
            <a:r>
              <a:rPr lang="tr-TR" dirty="0" err="1"/>
              <a:t>error</a:t>
            </a:r>
            <a:r>
              <a:rPr lang="tr-TR" dirty="0"/>
              <a:t> </a:t>
            </a:r>
            <a:r>
              <a:rPr lang="tr-TR" dirty="0" err="1"/>
              <a:t>analysis</a:t>
            </a:r>
            <a:r>
              <a:rPr lang="tr-TR" dirty="0"/>
              <a:t>,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visualization</a:t>
            </a:r>
            <a:r>
              <a:rPr lang="tr-TR" dirty="0"/>
              <a:t> of </a:t>
            </a:r>
            <a:r>
              <a:rPr lang="tr-TR" dirty="0" err="1"/>
              <a:t>experimental</a:t>
            </a:r>
            <a:r>
              <a:rPr lang="tr-TR" dirty="0"/>
              <a:t> </a:t>
            </a:r>
            <a:r>
              <a:rPr lang="tr-TR" dirty="0" err="1"/>
              <a:t>results</a:t>
            </a:r>
            <a:r>
              <a:rPr lang="tr-TR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0B3D91"/>
                </a:solidFill>
                <a:latin typeface="Calibri"/>
              </a:rPr>
              <a:t>Takeaways:</a:t>
            </a:r>
          </a:p>
          <a:p>
            <a:pPr algn="l"/>
            <a:r>
              <a:rPr sz="1600" b="0" i="0" dirty="0">
                <a:solidFill>
                  <a:srgbClr val="0B3D91"/>
                </a:solidFill>
                <a:latin typeface="Calibri"/>
              </a:rPr>
              <a:t>• Semantic priors + disagreement modelling beat lexical </a:t>
            </a:r>
            <a:r>
              <a:rPr sz="1600" b="0" i="0" dirty="0" err="1">
                <a:solidFill>
                  <a:srgbClr val="0B3D91"/>
                </a:solidFill>
                <a:latin typeface="Calibri"/>
              </a:rPr>
              <a:t>memorisation</a:t>
            </a:r>
            <a:r>
              <a:rPr sz="1600" b="0" i="0" dirty="0">
                <a:solidFill>
                  <a:srgbClr val="0B3D91"/>
                </a:solidFill>
                <a:latin typeface="Calibri"/>
              </a:rPr>
              <a:t> on a strict split.</a:t>
            </a:r>
          </a:p>
          <a:p>
            <a:pPr algn="l"/>
            <a:r>
              <a:rPr sz="1600" b="0" i="0" dirty="0">
                <a:solidFill>
                  <a:srgbClr val="0B3D91"/>
                </a:solidFill>
                <a:latin typeface="Calibri"/>
              </a:rPr>
              <a:t>• A novel distribution head gives a continuous, uncertainty-aware rating.</a:t>
            </a:r>
          </a:p>
          <a:p>
            <a:pPr algn="l"/>
            <a:r>
              <a:rPr sz="1600" b="0" i="0" dirty="0">
                <a:solidFill>
                  <a:srgbClr val="0B3D91"/>
                </a:solidFill>
                <a:latin typeface="Calibri"/>
              </a:rPr>
              <a:t>• Ensemble: dev </a:t>
            </a:r>
            <a:r>
              <a:rPr sz="1600" b="0" i="0" dirty="0" err="1">
                <a:solidFill>
                  <a:srgbClr val="0B3D91"/>
                </a:solidFill>
                <a:latin typeface="Calibri"/>
              </a:rPr>
              <a:t>acc@std</a:t>
            </a:r>
            <a:r>
              <a:rPr sz="1600" b="0" i="0" dirty="0">
                <a:solidFill>
                  <a:srgbClr val="0B3D91"/>
                </a:solidFill>
                <a:latin typeface="Calibri"/>
              </a:rPr>
              <a:t> 0.733 / </a:t>
            </a:r>
            <a:r>
              <a:rPr sz="1600" b="0" i="0" dirty="0" err="1">
                <a:solidFill>
                  <a:srgbClr val="0B3D91"/>
                </a:solidFill>
                <a:latin typeface="Calibri"/>
              </a:rPr>
              <a:t>ρ</a:t>
            </a:r>
            <a:r>
              <a:rPr sz="1600" b="0" i="0" dirty="0">
                <a:solidFill>
                  <a:srgbClr val="0B3D91"/>
                </a:solidFill>
                <a:latin typeface="Calibri"/>
              </a:rPr>
              <a:t> +0.588 — Below OK.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44444"/>
                </a:solidFill>
                <a:latin typeface="Calibri"/>
              </a:rPr>
              <a:t>Thank you — 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16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GroupXX — SemEval-2026 Task 5 (Final)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1767</Words>
  <Application>Microsoft Macintosh PowerPoint</Application>
  <PresentationFormat>Geniş ekran</PresentationFormat>
  <Paragraphs>146</Paragraphs>
  <Slides>16</Slides>
  <Notes>16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Edes Rıza Çakmak (Student)</cp:lastModifiedBy>
  <cp:revision>2</cp:revision>
  <dcterms:created xsi:type="dcterms:W3CDTF">2013-01-27T09:14:16Z</dcterms:created>
  <dcterms:modified xsi:type="dcterms:W3CDTF">2026-05-18T20:17:10Z</dcterms:modified>
  <cp:category/>
</cp:coreProperties>
</file>